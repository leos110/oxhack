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Big farms run fleets over thousands of acres, but harvest is still planned by hand. We built equipment that decides for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Barley, rape and wheat ripen together: 17 days a year all three need cutting at once, and wheat loses up to 2.5% a day waiting.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six hours: the latest forecast, each field's grain moisture and value, then one plan for every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9,000-acre farm would pay good money for this. Over the 2024 season our planner nets 1.8 million pounds more than farmer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ploughing and drilling, and sensors in the fields, towards a farm that runs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5347"/>
                </a:solidFill>
                <a:latin typeface="IBM Plex Mono"/>
              </a:rPr>
              <a:t>OXHACK 2026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914400"/>
            <a:ext cx="10911535" cy="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828800"/>
            <a:ext cx="8778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0" i="0">
                <a:solidFill>
                  <a:srgbClr val="1D1A15"/>
                </a:solidFill>
                <a:latin typeface="Newsreader"/>
              </a:rPr>
              <a:t>Farm equipment that makes its own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6052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5A5347"/>
                </a:solidFill>
                <a:latin typeface="Newsreader"/>
              </a:rPr>
              <a:t>Autonomous harvest planning for efficient farming at scale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5257800"/>
            <a:ext cx="10911535" cy="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5440680"/>
            <a:ext cx="24535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9A2E"/>
                </a:solidFill>
                <a:latin typeface="IBM Plex Mono"/>
              </a:rPr>
              <a:t>01  </a:t>
            </a:r>
            <a:r>
              <a:rPr sz="1300" b="0" i="0">
                <a:solidFill>
                  <a:srgbClr val="1D1A15"/>
                </a:solidFill>
                <a:latin typeface="IBM Plex Mono"/>
              </a:rPr>
              <a:t>Forecast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5347"/>
                </a:solidFill>
                <a:latin typeface="Newsreader"/>
              </a:rPr>
              <a:t>Met Office, 127 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0803" y="5440680"/>
            <a:ext cx="0" cy="68580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367963" y="5440680"/>
            <a:ext cx="24535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9A2E"/>
                </a:solidFill>
                <a:latin typeface="IBM Plex Mono"/>
              </a:rPr>
              <a:t>02  </a:t>
            </a:r>
            <a:r>
              <a:rPr sz="1300" b="0" i="0">
                <a:solidFill>
                  <a:srgbClr val="1D1A15"/>
                </a:solidFill>
                <a:latin typeface="IBM Plex Mono"/>
              </a:rPr>
              <a:t>Value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5347"/>
                </a:solidFill>
                <a:latin typeface="Newsreader"/>
              </a:rPr>
              <a:t>£/ha per field, per hour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58687" y="5440680"/>
            <a:ext cx="0" cy="68580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5847" y="5440680"/>
            <a:ext cx="24535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9A2E"/>
                </a:solidFill>
                <a:latin typeface="IBM Plex Mono"/>
              </a:rPr>
              <a:t>03  </a:t>
            </a:r>
            <a:r>
              <a:rPr sz="1300" b="0" i="0">
                <a:solidFill>
                  <a:srgbClr val="1D1A15"/>
                </a:solidFill>
                <a:latin typeface="IBM Plex Mono"/>
              </a:rPr>
              <a:t>Plan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5347"/>
                </a:solidFill>
                <a:latin typeface="Newsreader"/>
              </a:rPr>
              <a:t>cooperative MPC, whole fleet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571" y="5440680"/>
            <a:ext cx="0" cy="68580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823731" y="5440680"/>
            <a:ext cx="24535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9A2E"/>
                </a:solidFill>
                <a:latin typeface="IBM Plex Mono"/>
              </a:rPr>
              <a:t>04  </a:t>
            </a:r>
            <a:r>
              <a:rPr sz="1300" b="0" i="0">
                <a:solidFill>
                  <a:srgbClr val="1D1A15"/>
                </a:solidFill>
                <a:latin typeface="IBM Plex Mono"/>
              </a:rPr>
              <a:t>Replan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5347"/>
                </a:solidFill>
                <a:latin typeface="Newsreader"/>
              </a:rPr>
              <a:t>every 6 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5347"/>
                </a:solidFill>
                <a:latin typeface="IBM Plex Mono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1D1A15"/>
                </a:solidFill>
                <a:latin typeface="Newsreader"/>
              </a:rPr>
              <a:t>Three crops, one short window, weather in charge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63040"/>
            <a:ext cx="10911535" cy="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78308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D1A15"/>
                </a:solidFill>
                <a:latin typeface="IBM Plex Mono"/>
              </a:rPr>
              <a:t>17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749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A5347"/>
                </a:solidFill>
                <a:latin typeface="Newsreader"/>
              </a:rPr>
              <a:t>a year on average when winter barley, oilseed rape and wheat all need cutting at once (AHDB, 2017–2026)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081527"/>
            <a:ext cx="3749040" cy="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24612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A8321F"/>
                </a:solidFill>
                <a:latin typeface="IBM Plex Mono"/>
              </a:rPr>
              <a:t>0.5–2.5%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3749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A5347"/>
                </a:solidFill>
                <a:latin typeface="Newsreader"/>
              </a:rPr>
              <a:t>of wheat yield lost for each day harvest waits after the grain reaches 18% moisture (UMD Extension)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4544568"/>
            <a:ext cx="3749040" cy="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470916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D1A15"/>
                </a:solidFill>
                <a:latin typeface="IBM Plex Mono"/>
              </a:rPr>
              <a:t>By hand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3749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A5347"/>
                </a:solidFill>
                <a:latin typeface="Newsreader"/>
              </a:rPr>
              <a:t>today: someone drives field to field with a moisture meter, and the fleet follows</a:t>
            </a:r>
          </a:p>
        </p:txBody>
      </p:sp>
      <p:pic>
        <p:nvPicPr>
          <p:cNvPr id="13" name="Picture 12" descr="harvest_windows_pal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071" y="1627632"/>
            <a:ext cx="6638544" cy="452628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>
            <a:off x="4684471" y="1691640"/>
            <a:ext cx="0" cy="4434839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347"/>
                </a:solidFill>
                <a:latin typeface="IBM Plex Mono"/>
              </a:rPr>
              <a:t>Oxhack 2026 · autonomous harvest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347"/>
                </a:solidFill>
                <a:latin typeface="IBM Plex Mono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5347"/>
                </a:solidFill>
                <a:latin typeface="IBM Plex Mono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1D1A15"/>
                </a:solidFill>
                <a:latin typeface="Newsreader"/>
              </a:rPr>
              <a:t>One plan for the whole fleet, redone every 6 hours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63040"/>
            <a:ext cx="10911535" cy="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783080"/>
            <a:ext cx="2316403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99A2E"/>
                </a:solidFill>
                <a:latin typeface="IBM Plex Mono"/>
              </a:rPr>
              <a:t>01</a:t>
            </a:r>
          </a:p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1D1A15"/>
                </a:solidFill>
                <a:latin typeface="Newsreader"/>
              </a:rPr>
              <a:t>Forecast</a:t>
            </a:r>
          </a:p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D1A15"/>
                </a:solidFill>
                <a:latin typeface="Newsreader"/>
              </a:rPr>
              <a:t>Met Office ensemble, 127 h ahead</a:t>
            </a:r>
          </a:p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D1A15"/>
                </a:solidFill>
                <a:latin typeface="Newsreader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A5347"/>
                </a:solidFill>
                <a:latin typeface="Newsreader"/>
              </a:rPr>
              <a:t>— Temperature, rain (mm), humidity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A5347"/>
                </a:solidFill>
                <a:latin typeface="Newsreader"/>
              </a:rPr>
              <a:t>— Every field, every hour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85083" y="1783080"/>
            <a:ext cx="0" cy="310896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67963" y="1783080"/>
            <a:ext cx="2316403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99A2E"/>
                </a:solidFill>
                <a:latin typeface="IBM Plex Mono"/>
              </a:rPr>
              <a:t>02</a:t>
            </a:r>
          </a:p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1D1A15"/>
                </a:solidFill>
                <a:latin typeface="Newsreader"/>
              </a:rPr>
              <a:t>Value</a:t>
            </a:r>
          </a:p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D1A15"/>
                </a:solidFill>
                <a:latin typeface="Newsreader"/>
              </a:rPr>
              <a:t>£/ha if cut in each hour</a:t>
            </a:r>
          </a:p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D1A15"/>
                </a:solidFill>
                <a:latin typeface="Newsreader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A5347"/>
                </a:solidFill>
                <a:latin typeface="Newsreader"/>
              </a:rPr>
              <a:t>— Grain moisture model per crop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A5347"/>
                </a:solidFill>
                <a:latin typeface="Newsreader"/>
              </a:rPr>
              <a:t>— Minus drying and fuel, at market prices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12967" y="1783080"/>
            <a:ext cx="0" cy="310896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95847" y="1783080"/>
            <a:ext cx="2316403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99A2E"/>
                </a:solidFill>
                <a:latin typeface="IBM Plex Mono"/>
              </a:rPr>
              <a:t>03</a:t>
            </a:r>
          </a:p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1D1A15"/>
                </a:solidFill>
                <a:latin typeface="Newsreader"/>
              </a:rPr>
              <a:t>Plan</a:t>
            </a:r>
          </a:p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D1A15"/>
                </a:solidFill>
                <a:latin typeface="Newsreader"/>
              </a:rPr>
              <a:t>Cooperative MPC on a farm digital twin</a:t>
            </a:r>
          </a:p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D1A15"/>
                </a:solidFill>
                <a:latin typeface="Newsreader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A5347"/>
                </a:solidFill>
                <a:latin typeface="Newsreader"/>
              </a:rPr>
              <a:t>— Most harvest profit, least driving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A5347"/>
                </a:solidFill>
                <a:latin typeface="Newsreader"/>
              </a:rPr>
              <a:t>— Home to the depot rather than idle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A5347"/>
                </a:solidFill>
                <a:latin typeface="Newsreader"/>
              </a:rPr>
              <a:t>— A cost on grain left standing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40851" y="1783080"/>
            <a:ext cx="0" cy="310896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823731" y="1783080"/>
            <a:ext cx="2316403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99A2E"/>
                </a:solidFill>
                <a:latin typeface="IBM Plex Mono"/>
              </a:rPr>
              <a:t>04</a:t>
            </a:r>
          </a:p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1D1A15"/>
                </a:solidFill>
                <a:latin typeface="Newsreader"/>
              </a:rPr>
              <a:t>Replan</a:t>
            </a:r>
          </a:p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D1A15"/>
                </a:solidFill>
                <a:latin typeface="Newsreader"/>
              </a:rPr>
              <a:t>New forecast every 6 h</a:t>
            </a:r>
          </a:p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D1A15"/>
                </a:solidFill>
                <a:latin typeface="Newsreader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A5347"/>
                </a:solidFill>
                <a:latin typeface="Newsreader"/>
              </a:rPr>
              <a:t>— Machines re-route themselves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A5347"/>
                </a:solidFill>
                <a:latin typeface="Newsreader"/>
              </a:rPr>
              <a:t>— No one drives out to check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5852160"/>
            <a:ext cx="10911535" cy="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5925312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D1A15"/>
                </a:solidFill>
                <a:latin typeface="Newsreader"/>
              </a:rPr>
              <a:t>A planning layer above any autonomous harvester stack.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347"/>
                </a:solidFill>
                <a:latin typeface="IBM Plex Mono"/>
              </a:rPr>
              <a:t>Oxhack 2026 · autonomous harvest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347"/>
                </a:solidFill>
                <a:latin typeface="IBM Plex Mono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5347"/>
                </a:solidFill>
                <a:latin typeface="IBM Plex Mono"/>
              </a:rPr>
              <a:t>DOES IT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1D1A15"/>
                </a:solidFill>
                <a:latin typeface="Newsreader"/>
              </a:rPr>
              <a:t>A farmer wants it, and a full season shows why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63040"/>
            <a:ext cx="10911535" cy="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783080"/>
            <a:ext cx="47548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0" i="1">
                <a:solidFill>
                  <a:srgbClr val="1D1A15"/>
                </a:solidFill>
                <a:latin typeface="Newsreader"/>
              </a:rPr>
              <a:t>“Pay good money”</a:t>
            </a:r>
          </a:p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5347"/>
                </a:solidFill>
                <a:latin typeface="Newsreader"/>
              </a:rPr>
              <a:t>for a system that optimises and automates his harvest routes. A delay can cost “tens to hundreds of thousands of pounds”.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D1A15"/>
                </a:solidFill>
                <a:latin typeface="Newsreader"/>
              </a:rPr>
              <a:t>Ed, Apsley Farms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5347"/>
                </a:solidFill>
                <a:latin typeface="IBM Plex Mono"/>
              </a:rPr>
              <a:t>9,000 acres arable · up to 300 acres a day at harvest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720" y="1783080"/>
            <a:ext cx="0" cy="420624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35040" y="178308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A5347"/>
                </a:solidFill>
                <a:latin typeface="IBM Plex Mono"/>
              </a:rPr>
              <a:t>2024 season replay · 9 Jun – 10 Sep · 4,046 ha · real past forecasts and weather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377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5347"/>
                </a:solidFill>
                <a:latin typeface="IBM Plex Mono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37744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5347"/>
                </a:solidFill>
                <a:latin typeface="IBM Plex Mono"/>
              </a:rPr>
              <a:t>ha cut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37744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5347"/>
                </a:solidFill>
                <a:latin typeface="IBM Plex Mono"/>
              </a:rPr>
              <a:t>net £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2770632"/>
            <a:ext cx="5486400" cy="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35040" y="28803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D1A15"/>
                </a:solidFill>
                <a:latin typeface="Newsreader"/>
              </a:rPr>
              <a:t>Farmer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88036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D1A15"/>
                </a:solidFill>
                <a:latin typeface="IBM Plex Mono"/>
              </a:rPr>
              <a:t>2,484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88036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D1A15"/>
                </a:solidFill>
                <a:latin typeface="IBM Plex Mono"/>
              </a:rPr>
              <a:t>2.59M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3410712"/>
            <a:ext cx="5486400" cy="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35040" y="3520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D1A15"/>
                </a:solidFill>
                <a:latin typeface="Newsreader"/>
              </a:rPr>
              <a:t>Our MPC planner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52044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D1A15"/>
                </a:solidFill>
                <a:latin typeface="IBM Plex Mono"/>
              </a:rPr>
              <a:t>4,046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352044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D1A15"/>
                </a:solidFill>
                <a:latin typeface="IBM Plex Mono"/>
              </a:rPr>
              <a:t>4.37M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4050792"/>
            <a:ext cx="5486400" cy="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35040" y="429768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D1A15"/>
                </a:solidFill>
                <a:latin typeface="IBM Plex Mono"/>
              </a:rPr>
              <a:t>+£1.79M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A5347"/>
                </a:solidFill>
                <a:latin typeface="Newsreader"/>
              </a:rPr>
              <a:t>net over the season (+69%); the farmer's rules leave 1,562 ha standing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347"/>
                </a:solidFill>
                <a:latin typeface="IBM Plex Mono"/>
              </a:rPr>
              <a:t>Oxhack 2026 · autonomous harvest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347"/>
                </a:solidFill>
                <a:latin typeface="IBM Plex Mono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5347"/>
                </a:solidFill>
                <a:latin typeface="IBM Plex Mono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1D1A15"/>
                </a:solidFill>
                <a:latin typeface="Newsreader"/>
              </a:rPr>
              <a:t>From harvest to the whole farm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63040"/>
            <a:ext cx="10911535" cy="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783080"/>
            <a:ext cx="3225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D1A15"/>
                </a:solidFill>
                <a:latin typeface="Newsreader"/>
              </a:rPr>
              <a:t>Other field work</a:t>
            </a:r>
          </a:p>
          <a:p>
            <a:pPr algn="l">
              <a:lnSpc>
                <a:spcPct val="115000"/>
              </a:lnSpc>
            </a:pPr>
            <a:r>
              <a:rPr sz="600" b="0" i="0">
                <a:solidFill>
                  <a:srgbClr val="1D1A15"/>
                </a:solidFill>
                <a:latin typeface="Newsreader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5347"/>
                </a:solidFill>
                <a:latin typeface="Newsreader"/>
              </a:rPr>
              <a:t>— Ploughing, drilling, spraying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5347"/>
                </a:solidFill>
                <a:latin typeface="Newsreader"/>
              </a:rPr>
              <a:t>— Same fleet, same planner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94378" y="1783080"/>
            <a:ext cx="0" cy="210312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77258" y="1783080"/>
            <a:ext cx="3225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D1A15"/>
                </a:solidFill>
                <a:latin typeface="Newsreader"/>
              </a:rPr>
              <a:t>Sensors in the fields</a:t>
            </a:r>
          </a:p>
          <a:p>
            <a:pPr algn="l">
              <a:lnSpc>
                <a:spcPct val="115000"/>
              </a:lnSpc>
            </a:pPr>
            <a:r>
              <a:rPr sz="600" b="0" i="0">
                <a:solidFill>
                  <a:srgbClr val="1D1A15"/>
                </a:solidFill>
                <a:latin typeface="Newsreader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5347"/>
                </a:solidFill>
                <a:latin typeface="Newsreader"/>
              </a:rPr>
              <a:t>— Wind, rain, grain moisture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5347"/>
                </a:solidFill>
                <a:latin typeface="Newsreader"/>
              </a:rPr>
              <a:t>— GDD and NDVI for ripeness windows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5347"/>
                </a:solidFill>
                <a:latin typeface="Newsreader"/>
              </a:rPr>
              <a:t>— Early warning on pests and disease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31556" y="1783080"/>
            <a:ext cx="0" cy="210312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914436" y="1783080"/>
            <a:ext cx="3225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D1A15"/>
                </a:solidFill>
                <a:latin typeface="Newsreader"/>
              </a:rPr>
              <a:t>Full farm digital twin</a:t>
            </a:r>
          </a:p>
          <a:p>
            <a:pPr algn="l">
              <a:lnSpc>
                <a:spcPct val="115000"/>
              </a:lnSpc>
            </a:pPr>
            <a:r>
              <a:rPr sz="600" b="0" i="0">
                <a:solidFill>
                  <a:srgbClr val="1D1A15"/>
                </a:solidFill>
                <a:latin typeface="Newsreader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5347"/>
                </a:solidFill>
                <a:latin typeface="Newsreader"/>
              </a:rPr>
              <a:t>— Every field measured, not modelled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5347"/>
                </a:solidFill>
                <a:latin typeface="Newsreader"/>
              </a:rPr>
              <a:t>— Every machine planned together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4983480"/>
            <a:ext cx="10911535" cy="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512064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A5347"/>
                </a:solidFill>
                <a:latin typeface="Newsreader"/>
              </a:rPr>
              <a:t>Today the grain moisture is modelled from forecasts; field sensors would measure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D1A15"/>
                </a:solidFill>
                <a:latin typeface="Newsreader"/>
              </a:rPr>
              <a:t>Farm equipment that makes its own decisions.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12700">
            <a:solidFill>
              <a:srgbClr val="CDC3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347"/>
                </a:solidFill>
                <a:latin typeface="IBM Plex Mono"/>
              </a:rPr>
              <a:t>Oxhack 2026 · autonomous harvest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347"/>
                </a:solidFill>
                <a:latin typeface="IBM Plex Mono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